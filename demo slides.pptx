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7315200" cy="9601200"/>
  <p:embeddedFontLst>
    <p:embeddedFont>
      <p:font typeface="Helvetica Neue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GoogleSlidesCustomDataVersion2">
      <go:slidesCustomData xmlns:go="http://customooxmlschemas.google.com/" r:id="rId41" roundtripDataSignature="AMtx7mhZxFgAS8c4AvIuzdowlmheaksr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10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fba434a27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87" name="Google Shape;187;g3afba434a27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Infrastructure as Code (IaC):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Tool: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AWS SAM (Serverless Application Model).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Benefit: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Entire stack defined in one template.yaml.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Deployment Pipeline: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Process: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Manual CLI trigger: sam build &amp;&amp; sam deploy.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Target: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Single stage deployment to us-east-1.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Monitoring &amp; Alerts: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Logs: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AWS CloudWatch.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Alerts: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Amazon SNS sends email notifications.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Error Handling: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App Level: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FastAPI handles schema validation &amp; Auth errors.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System Level: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SQS retries failed tasks; DynamoDB explicitly tracks FAILED job status.</a:t>
            </a:r>
            <a:endParaRPr b="1"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235" name="Google Shape;23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Authentication Mechanism: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Stateless: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JWT (HS256)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carried in the Authorization: Bearer header.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Expiration: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Tokens expire after </a:t>
            </a: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30 minutes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Credential Storage: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Hashing: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Pwd are hashed by </a:t>
            </a: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SHA256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Storage: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Credentials stored in </a:t>
            </a: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DynamoDB (Users Table)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Server-Side Verification: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Dependency Injection: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Protected routes validate the JWT signature on every request.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Access Control: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Verified against the DynamoDB user partition key (username).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241" name="Google Shape;24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idx="10" type="dt"/>
          </p:nvPr>
        </p:nvSpPr>
        <p:spPr>
          <a:xfrm>
            <a:off x="7112000" y="6356351"/>
            <a:ext cx="1877976" cy="365125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1"/>
          <p:cNvSpPr/>
          <p:nvPr/>
        </p:nvSpPr>
        <p:spPr>
          <a:xfrm>
            <a:off x="125733" y="163473"/>
            <a:ext cx="8864243" cy="6558002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1"/>
          <p:cNvSpPr/>
          <p:nvPr/>
        </p:nvSpPr>
        <p:spPr>
          <a:xfrm>
            <a:off x="8146145" y="163474"/>
            <a:ext cx="843833" cy="8797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Small Use Shield_CardOnTrans.eps" id="19" name="Google Shape;1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46145" y="190686"/>
            <a:ext cx="843833" cy="8438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1"/>
          <p:cNvSpPr txBox="1"/>
          <p:nvPr>
            <p:ph type="ctrTitle"/>
          </p:nvPr>
        </p:nvSpPr>
        <p:spPr>
          <a:xfrm>
            <a:off x="342203" y="1767311"/>
            <a:ext cx="8013060" cy="19532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31"/>
          <p:cNvSpPr txBox="1"/>
          <p:nvPr>
            <p:ph idx="11" type="ftr"/>
          </p:nvPr>
        </p:nvSpPr>
        <p:spPr>
          <a:xfrm>
            <a:off x="125735" y="6356351"/>
            <a:ext cx="69862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1"/>
          <p:cNvSpPr txBox="1"/>
          <p:nvPr>
            <p:ph idx="1" type="body"/>
          </p:nvPr>
        </p:nvSpPr>
        <p:spPr>
          <a:xfrm>
            <a:off x="333375" y="3778998"/>
            <a:ext cx="8021638" cy="117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None/>
              <a:defRPr b="1" i="0" sz="2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»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»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»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»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solidFill>
          <a:schemeClr val="l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/>
          <p:nvPr/>
        </p:nvSpPr>
        <p:spPr>
          <a:xfrm>
            <a:off x="125733" y="163473"/>
            <a:ext cx="8864243" cy="6558002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5;p34"/>
          <p:cNvSpPr/>
          <p:nvPr/>
        </p:nvSpPr>
        <p:spPr>
          <a:xfrm>
            <a:off x="8381074" y="163474"/>
            <a:ext cx="608903" cy="6348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Small Use Shield_CardOnTrans.eps" id="26" name="Google Shape;26;p34"/>
          <p:cNvPicPr preferRelativeResize="0"/>
          <p:nvPr/>
        </p:nvPicPr>
        <p:blipFill rotWithShape="1">
          <a:blip r:embed="rId2">
            <a:alphaModFix/>
          </a:blip>
          <a:srcRect b="0" l="15027" r="15157" t="0"/>
          <a:stretch/>
        </p:blipFill>
        <p:spPr>
          <a:xfrm>
            <a:off x="8451170" y="155634"/>
            <a:ext cx="470380" cy="67375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4"/>
          <p:cNvSpPr txBox="1"/>
          <p:nvPr>
            <p:ph type="title"/>
          </p:nvPr>
        </p:nvSpPr>
        <p:spPr>
          <a:xfrm>
            <a:off x="457200" y="2633533"/>
            <a:ext cx="8229600" cy="112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  <a:defRPr b="1" i="0" sz="6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showMasterSp="0" type="tx">
  <p:cSld name="TITLE_AND_BODY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7"/>
          <p:cNvSpPr/>
          <p:nvPr/>
        </p:nvSpPr>
        <p:spPr>
          <a:xfrm>
            <a:off x="125733" y="163472"/>
            <a:ext cx="8864243" cy="6558004"/>
          </a:xfrm>
          <a:prstGeom prst="rect">
            <a:avLst/>
          </a:prstGeom>
          <a:noFill/>
          <a:ln cap="flat" cmpd="sng" w="12700">
            <a:solidFill>
              <a:srgbClr val="99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37"/>
          <p:cNvSpPr/>
          <p:nvPr/>
        </p:nvSpPr>
        <p:spPr>
          <a:xfrm>
            <a:off x="125733" y="163473"/>
            <a:ext cx="8864243" cy="634816"/>
          </a:xfrm>
          <a:prstGeom prst="rect">
            <a:avLst/>
          </a:prstGeom>
          <a:noFill/>
          <a:ln cap="flat" cmpd="sng" w="12700">
            <a:solidFill>
              <a:srgbClr val="99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" name="Google Shape;31;p37"/>
          <p:cNvSpPr/>
          <p:nvPr/>
        </p:nvSpPr>
        <p:spPr>
          <a:xfrm>
            <a:off x="8381073" y="163473"/>
            <a:ext cx="608904" cy="634814"/>
          </a:xfrm>
          <a:prstGeom prst="rect">
            <a:avLst/>
          </a:prstGeom>
          <a:solidFill>
            <a:srgbClr val="990000"/>
          </a:solidFill>
          <a:ln cap="flat" cmpd="sng" w="12700">
            <a:solidFill>
              <a:srgbClr val="99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28" id="32" name="Google Shape;3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2618" y="231584"/>
            <a:ext cx="385813" cy="498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9" id="33" name="Google Shape;3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91984"/>
            <a:ext cx="2222501" cy="7778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7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  <a:defRPr b="1" i="0" sz="2400" u="none" cap="none" strike="noStrik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35" name="Google Shape;35;p37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o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0039" lvl="3" marL="18288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o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8619806" y="6338749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idx="10" type="dt"/>
          </p:nvPr>
        </p:nvSpPr>
        <p:spPr>
          <a:xfrm>
            <a:off x="7112000" y="6356351"/>
            <a:ext cx="1877976" cy="365125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38"/>
          <p:cNvSpPr txBox="1"/>
          <p:nvPr>
            <p:ph type="ctrTitle"/>
          </p:nvPr>
        </p:nvSpPr>
        <p:spPr>
          <a:xfrm>
            <a:off x="342203" y="1767311"/>
            <a:ext cx="8013060" cy="19532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38"/>
          <p:cNvSpPr txBox="1"/>
          <p:nvPr>
            <p:ph idx="11" type="ftr"/>
          </p:nvPr>
        </p:nvSpPr>
        <p:spPr>
          <a:xfrm>
            <a:off x="125735" y="6356351"/>
            <a:ext cx="69862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38"/>
          <p:cNvSpPr txBox="1"/>
          <p:nvPr>
            <p:ph idx="1" type="body"/>
          </p:nvPr>
        </p:nvSpPr>
        <p:spPr>
          <a:xfrm>
            <a:off x="333375" y="3778998"/>
            <a:ext cx="8021638" cy="117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erriweather Sans"/>
              <a:buNone/>
              <a:defRPr b="1" i="0" sz="2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»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»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»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»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9"/>
          <p:cNvSpPr txBox="1"/>
          <p:nvPr>
            <p:ph type="title"/>
          </p:nvPr>
        </p:nvSpPr>
        <p:spPr>
          <a:xfrm>
            <a:off x="457200" y="2633533"/>
            <a:ext cx="8229600" cy="112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  <a:defRPr b="1" i="0" sz="6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821030" y="62803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33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Up">
  <p:cSld name="2-Up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6821030" y="62803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35"/>
          <p:cNvSpPr/>
          <p:nvPr>
            <p:ph idx="2" type="pic"/>
          </p:nvPr>
        </p:nvSpPr>
        <p:spPr>
          <a:xfrm>
            <a:off x="408805" y="1608482"/>
            <a:ext cx="3388496" cy="230187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35"/>
          <p:cNvSpPr/>
          <p:nvPr>
            <p:ph idx="3" type="pic"/>
          </p:nvPr>
        </p:nvSpPr>
        <p:spPr>
          <a:xfrm>
            <a:off x="408805" y="4008705"/>
            <a:ext cx="3388496" cy="2436813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4023495" y="1607874"/>
            <a:ext cx="4635500" cy="230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718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ourier New"/>
              <a:buChar char="o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35"/>
          <p:cNvSpPr txBox="1"/>
          <p:nvPr>
            <p:ph idx="4" type="body"/>
          </p:nvPr>
        </p:nvSpPr>
        <p:spPr>
          <a:xfrm>
            <a:off x="4022220" y="4008705"/>
            <a:ext cx="4635500" cy="243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718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ourier New"/>
              <a:buChar char="o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35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showMasterSp="0" type="tx">
  <p:cSld name="TITLE_AND_BODY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/>
          <p:nvPr/>
        </p:nvSpPr>
        <p:spPr>
          <a:xfrm>
            <a:off x="125733" y="163472"/>
            <a:ext cx="8864243" cy="6558004"/>
          </a:xfrm>
          <a:prstGeom prst="rect">
            <a:avLst/>
          </a:prstGeom>
          <a:noFill/>
          <a:ln cap="flat" cmpd="sng" w="12700">
            <a:solidFill>
              <a:srgbClr val="99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36"/>
          <p:cNvSpPr/>
          <p:nvPr/>
        </p:nvSpPr>
        <p:spPr>
          <a:xfrm>
            <a:off x="125733" y="163473"/>
            <a:ext cx="8864243" cy="634816"/>
          </a:xfrm>
          <a:prstGeom prst="rect">
            <a:avLst/>
          </a:prstGeom>
          <a:noFill/>
          <a:ln cap="flat" cmpd="sng" w="12700">
            <a:solidFill>
              <a:srgbClr val="99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36"/>
          <p:cNvSpPr/>
          <p:nvPr/>
        </p:nvSpPr>
        <p:spPr>
          <a:xfrm>
            <a:off x="8381073" y="163473"/>
            <a:ext cx="608904" cy="634814"/>
          </a:xfrm>
          <a:prstGeom prst="rect">
            <a:avLst/>
          </a:prstGeom>
          <a:solidFill>
            <a:srgbClr val="990000"/>
          </a:solidFill>
          <a:ln cap="flat" cmpd="sng" w="12700">
            <a:solidFill>
              <a:srgbClr val="99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icture 28" id="67" name="Google Shape;6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92618" y="231584"/>
            <a:ext cx="385813" cy="498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9" id="68" name="Google Shape;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91984"/>
            <a:ext cx="2222501" cy="7778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6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  <a:defRPr sz="2400">
                <a:solidFill>
                  <a:srgbClr val="99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o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0039" lvl="3" marL="18288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o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8619806" y="6338749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/>
          <p:nvPr/>
        </p:nvSpPr>
        <p:spPr>
          <a:xfrm>
            <a:off x="125733" y="163473"/>
            <a:ext cx="8864243" cy="6558002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30"/>
          <p:cNvSpPr/>
          <p:nvPr/>
        </p:nvSpPr>
        <p:spPr>
          <a:xfrm>
            <a:off x="125733" y="163473"/>
            <a:ext cx="8864243" cy="91440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30"/>
          <p:cNvSpPr/>
          <p:nvPr/>
        </p:nvSpPr>
        <p:spPr>
          <a:xfrm>
            <a:off x="8022772" y="163474"/>
            <a:ext cx="967206" cy="9143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Small Use Shield_CardOnTrans.eps" id="13" name="Google Shape;13;p30"/>
          <p:cNvPicPr preferRelativeResize="0"/>
          <p:nvPr/>
        </p:nvPicPr>
        <p:blipFill rotWithShape="1">
          <a:blip r:embed="rId1">
            <a:alphaModFix/>
          </a:blip>
          <a:srcRect b="0" l="15027" r="15157" t="0"/>
          <a:stretch/>
        </p:blipFill>
        <p:spPr>
          <a:xfrm>
            <a:off x="8280411" y="185244"/>
            <a:ext cx="577460" cy="827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l_Viterbi_GoldOntrans.eps" id="14" name="Google Shape;1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6129" y="268771"/>
            <a:ext cx="2607682" cy="70380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  <a:defRPr b="1" i="0" sz="2400" u="none" cap="none" strike="noStrik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32"/>
          <p:cNvSpPr txBox="1"/>
          <p:nvPr>
            <p:ph idx="12" type="sldNum"/>
          </p:nvPr>
        </p:nvSpPr>
        <p:spPr>
          <a:xfrm>
            <a:off x="6821030" y="62803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32"/>
          <p:cNvSpPr/>
          <p:nvPr/>
        </p:nvSpPr>
        <p:spPr>
          <a:xfrm>
            <a:off x="125733" y="163473"/>
            <a:ext cx="8864243" cy="6558002"/>
          </a:xfrm>
          <a:prstGeom prst="rect">
            <a:avLst/>
          </a:prstGeom>
          <a:noFill/>
          <a:ln cap="flat" cmpd="sng" w="127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" name="Google Shape;48;p32"/>
          <p:cNvSpPr/>
          <p:nvPr/>
        </p:nvSpPr>
        <p:spPr>
          <a:xfrm>
            <a:off x="125733" y="163474"/>
            <a:ext cx="8864243" cy="634814"/>
          </a:xfrm>
          <a:prstGeom prst="rect">
            <a:avLst/>
          </a:prstGeom>
          <a:noFill/>
          <a:ln cap="flat" cmpd="sng" w="127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32"/>
          <p:cNvSpPr/>
          <p:nvPr/>
        </p:nvSpPr>
        <p:spPr>
          <a:xfrm>
            <a:off x="8381074" y="163474"/>
            <a:ext cx="608903" cy="634813"/>
          </a:xfrm>
          <a:prstGeom prst="rect">
            <a:avLst/>
          </a:prstGeom>
          <a:solidFill>
            <a:srgbClr val="990000"/>
          </a:solidFill>
          <a:ln cap="flat" cmpd="sng" w="12700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Small Use Shield_WhiteOnTrans.eps" id="50" name="Google Shape;50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492619" y="231585"/>
            <a:ext cx="385812" cy="49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l_Viterbi_CardOnTrans.eps" id="51" name="Google Shape;5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91985"/>
            <a:ext cx="2222500" cy="7778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3"/>
    <p:sldLayoutId id="2147483656" r:id="rId4"/>
    <p:sldLayoutId id="2147483657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Update-For-Integrated-Business-AI/CORU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"/>
          <p:cNvSpPr txBox="1"/>
          <p:nvPr>
            <p:ph type="ctrTitle"/>
          </p:nvPr>
        </p:nvSpPr>
        <p:spPr>
          <a:xfrm>
            <a:off x="342202" y="1660609"/>
            <a:ext cx="8493979" cy="19532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Helvetica Neue"/>
              <a:buNone/>
            </a:pPr>
            <a:r>
              <a:rPr lang="en-US" sz="6600"/>
              <a:t>RECEIPTINBOX</a:t>
            </a:r>
            <a:endParaRPr sz="6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"/>
          <p:cNvSpPr txBox="1"/>
          <p:nvPr>
            <p:ph idx="1" type="body"/>
          </p:nvPr>
        </p:nvSpPr>
        <p:spPr>
          <a:xfrm>
            <a:off x="333375" y="3613898"/>
            <a:ext cx="8021638" cy="117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EE 547 – FINAL PROJECT REFERENCE DECK</a:t>
            </a:r>
            <a:endParaRPr/>
          </a:p>
        </p:txBody>
      </p:sp>
      <p:sp>
        <p:nvSpPr>
          <p:cNvPr id="80" name="Google Shape;80;p1"/>
          <p:cNvSpPr txBox="1"/>
          <p:nvPr>
            <p:ph idx="10" type="dt"/>
          </p:nvPr>
        </p:nvSpPr>
        <p:spPr>
          <a:xfrm>
            <a:off x="7112000" y="6356351"/>
            <a:ext cx="1877976" cy="365125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Fall 2025</a:t>
            </a:r>
            <a:endParaRPr/>
          </a:p>
        </p:txBody>
      </p:sp>
      <p:sp>
        <p:nvSpPr>
          <p:cNvPr id="81" name="Google Shape;81;p1"/>
          <p:cNvSpPr txBox="1"/>
          <p:nvPr>
            <p:ph idx="11" type="ftr"/>
          </p:nvPr>
        </p:nvSpPr>
        <p:spPr>
          <a:xfrm>
            <a:off x="125735" y="5346705"/>
            <a:ext cx="6986267" cy="13747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HARRY KANG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 LIN HUA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VIVIN THIYAGARAJAN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87" name="Google Shape;87;p2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what did I spend, on what, and when?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Traditionally: manually transcribe receipt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ReceiptInbox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Upload receipt to cloud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ML-powered categorization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Spending trends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ARCHITECTURE SUMMARY</a:t>
            </a:r>
            <a:endParaRPr/>
          </a:p>
        </p:txBody>
      </p:sp>
      <p:sp>
        <p:nvSpPr>
          <p:cNvPr id="93" name="Google Shape;93;p3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Frontend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React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Backend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API Gateway, Lambda, DynamoDB, S3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ML Components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Rekognition, Bedrock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/>
              <a:t>Note: diagram on next slide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ARCHITECTURE SUMMARY</a:t>
            </a:r>
            <a:endParaRPr/>
          </a:p>
        </p:txBody>
      </p:sp>
      <p:pic>
        <p:nvPicPr>
          <p:cNvPr descr="A screenshot of a diagram&#10;&#10;AI-generated content may be incorrect.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792" y="793019"/>
            <a:ext cx="5094415" cy="64997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4"/>
          <p:cNvCxnSpPr/>
          <p:nvPr/>
        </p:nvCxnSpPr>
        <p:spPr>
          <a:xfrm>
            <a:off x="4228725" y="5606650"/>
            <a:ext cx="6492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4"/>
          <p:cNvSpPr txBox="1"/>
          <p:nvPr/>
        </p:nvSpPr>
        <p:spPr>
          <a:xfrm>
            <a:off x="4914050" y="5421850"/>
            <a:ext cx="11814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S3 (fetch image)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CLOUD DEPLOYMENT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Fully deployed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CLI tools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Frontend - Netlify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Backend - AWS SAM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TIMELINE – RETROSPECTIVE</a:t>
            </a:r>
            <a:endParaRPr/>
          </a:p>
        </p:txBody>
      </p:sp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Early stage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Separate development: Frontend, Backend, ML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Integration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Merge and debug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Feature enhancement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e.g. Dashboard: single tab -&gt; multi-tab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19" name="Google Shape;119;p7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ReceiptSense: Beyond Traditional OCR - A Dataset for Receipt Understanding</a:t>
            </a:r>
            <a:r>
              <a:rPr lang="en-US"/>
              <a:t>. (2024). GitHub. Available at: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https://github.com/Update-For-Integrated-Business-AI/CORU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457200" y="2633533"/>
            <a:ext cx="8229600" cy="112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</a:pPr>
            <a:r>
              <a:rPr lang="en-US" sz="6600"/>
              <a:t>FRONTEND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FRONTEND OVERVIEW</a:t>
            </a:r>
            <a:endParaRPr/>
          </a:p>
        </p:txBody>
      </p:sp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Core: React, React Router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UI Components: Ant Design (responsive)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Charts: Recharts (interactive visualization)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HTTP Client: Axios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USER ROLES</a:t>
            </a:r>
            <a:endParaRPr/>
          </a:p>
        </p:txBody>
      </p:sp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Signup (create account)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Log in/log out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Upload receipt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View spending statistics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Categories, trends, etc.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USER FLOW DIAGRAM</a:t>
            </a:r>
            <a:endParaRPr/>
          </a:p>
        </p:txBody>
      </p:sp>
      <p:pic>
        <p:nvPicPr>
          <p:cNvPr descr="A diagram of a process&#10;&#10;AI-generated content may be incorrect." id="142" name="Google Shape;1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7687" y="85134"/>
            <a:ext cx="3484147" cy="7346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147" name="Google Shape;147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133" l="0" r="0" t="3132"/>
          <a:stretch/>
        </p:blipFill>
        <p:spPr>
          <a:xfrm>
            <a:off x="408805" y="1608482"/>
            <a:ext cx="3388496" cy="230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148" name="Google Shape;148;p12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62" l="0" r="0" t="362"/>
          <a:stretch/>
        </p:blipFill>
        <p:spPr>
          <a:xfrm>
            <a:off x="408805" y="4008705"/>
            <a:ext cx="3388496" cy="24368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 txBox="1"/>
          <p:nvPr>
            <p:ph idx="1" type="body"/>
          </p:nvPr>
        </p:nvSpPr>
        <p:spPr>
          <a:xfrm>
            <a:off x="4023495" y="1607874"/>
            <a:ext cx="4635500" cy="230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Register page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Checks if user already exists</a:t>
            </a:r>
            <a:endParaRPr/>
          </a:p>
        </p:txBody>
      </p:sp>
      <p:sp>
        <p:nvSpPr>
          <p:cNvPr id="150" name="Google Shape;150;p12"/>
          <p:cNvSpPr txBox="1"/>
          <p:nvPr>
            <p:ph idx="4" type="body"/>
          </p:nvPr>
        </p:nvSpPr>
        <p:spPr>
          <a:xfrm>
            <a:off x="4022220" y="4008705"/>
            <a:ext cx="4635500" cy="243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Login page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Returns JWT if successful</a:t>
            </a:r>
            <a:endParaRPr/>
          </a:p>
          <a:p>
            <a:pPr indent="-101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PAGE: REGISTER, LOGIN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AI-generated content may be incorrect." id="156" name="Google Shape;156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858" l="0" r="0" t="5857"/>
          <a:stretch/>
        </p:blipFill>
        <p:spPr>
          <a:xfrm>
            <a:off x="408805" y="1608482"/>
            <a:ext cx="3388496" cy="2301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157" name="Google Shape;157;p1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740" l="0" r="0" t="3741"/>
          <a:stretch/>
        </p:blipFill>
        <p:spPr>
          <a:xfrm>
            <a:off x="408805" y="4008705"/>
            <a:ext cx="3388496" cy="243681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4023495" y="1607874"/>
            <a:ext cx="4635500" cy="230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Allow users to upload receipts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Pop-up window to select file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Drag-and-Drop</a:t>
            </a:r>
            <a:endParaRPr/>
          </a:p>
        </p:txBody>
      </p:sp>
      <p:sp>
        <p:nvSpPr>
          <p:cNvPr id="159" name="Google Shape;159;p13"/>
          <p:cNvSpPr txBox="1"/>
          <p:nvPr>
            <p:ph idx="4" type="body"/>
          </p:nvPr>
        </p:nvSpPr>
        <p:spPr>
          <a:xfrm>
            <a:off x="4022220" y="4008705"/>
            <a:ext cx="4635500" cy="243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User’s spending statistic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Receipts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By Category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Top Merchants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o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Spending Trends</a:t>
            </a:r>
            <a:endParaRPr/>
          </a:p>
        </p:txBody>
      </p:sp>
      <p:sp>
        <p:nvSpPr>
          <p:cNvPr id="160" name="Google Shape;160;p13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PAGE: UPLOAD, DASHBOARD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457200" y="2633533"/>
            <a:ext cx="8229600" cy="112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</a:pPr>
            <a:r>
              <a:rPr lang="en-US" sz="6600"/>
              <a:t>BACKEND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BACKEND SUMMARY</a:t>
            </a:r>
            <a:endParaRPr/>
          </a:p>
        </p:txBody>
      </p:sp>
      <p:sp>
        <p:nvSpPr>
          <p:cNvPr id="171" name="Google Shape;171;p15"/>
          <p:cNvSpPr txBox="1"/>
          <p:nvPr>
            <p:ph idx="1" type="body"/>
          </p:nvPr>
        </p:nvSpPr>
        <p:spPr>
          <a:xfrm>
            <a:off x="212650" y="1500200"/>
            <a:ext cx="872610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1" lang="en-US"/>
              <a:t>Languages &amp; Frameworks:</a:t>
            </a:r>
            <a:br>
              <a:rPr b="1" lang="en-US"/>
            </a:br>
            <a:r>
              <a:rPr lang="en-US"/>
              <a:t>- Python 3.10</a:t>
            </a:r>
            <a:endParaRPr/>
          </a:p>
          <a:p>
            <a:pPr indent="457200" lvl="2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Times"/>
              <a:buNone/>
            </a:pPr>
            <a:r>
              <a:rPr lang="en-US"/>
              <a:t>- FastAPI: </a:t>
            </a:r>
            <a:r>
              <a:rPr lang="en-US"/>
              <a:t>framework</a:t>
            </a:r>
            <a:endParaRPr/>
          </a:p>
          <a:p>
            <a:pPr indent="457200" lvl="2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Times"/>
              <a:buNone/>
            </a:pPr>
            <a:r>
              <a:rPr lang="en-US"/>
              <a:t>- </a:t>
            </a:r>
            <a:r>
              <a:rPr lang="en-US"/>
              <a:t>AWS SAM: for IoC</a:t>
            </a:r>
            <a:endParaRPr/>
          </a:p>
          <a:p>
            <a:pPr indent="457200" lvl="2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Times"/>
              <a:buNone/>
            </a:pPr>
            <a:r>
              <a:rPr lang="en-US"/>
              <a:t>- </a:t>
            </a:r>
            <a:r>
              <a:rPr lang="en-US"/>
              <a:t>JWT (jose library) for authentication validation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1" lang="en-US"/>
              <a:t>Database and Storage Strategy:</a:t>
            </a:r>
            <a:br>
              <a:rPr lang="en-US"/>
            </a:br>
            <a:r>
              <a:rPr lang="en-US"/>
              <a:t>- DynamoDB</a:t>
            </a:r>
            <a:r>
              <a:rPr lang="en-US"/>
              <a:t>: for both user and receipts tables</a:t>
            </a:r>
            <a:br>
              <a:rPr lang="en-US"/>
            </a:br>
            <a:r>
              <a:rPr lang="en-US"/>
              <a:t>- Amazon S3: stores raw PDF and image files.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lang="en-US"/>
              <a:t>How Tasks are Triggered (Async Fan-out):</a:t>
            </a:r>
            <a:endParaRPr b="1"/>
          </a:p>
          <a:p>
            <a:pPr indent="457200" lvl="2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Times"/>
              <a:buNone/>
            </a:pPr>
            <a:r>
              <a:rPr lang="en-US"/>
              <a:t>Direct Upload→</a:t>
            </a:r>
            <a:r>
              <a:rPr lang="en-US"/>
              <a:t>State Tracking→</a:t>
            </a:r>
            <a:r>
              <a:rPr lang="en-US"/>
              <a:t>Queue Dispatch→Worker Trigger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419100" y="909559"/>
            <a:ext cx="82296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BACKEND SUMMARY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441225" y="1339778"/>
            <a:ext cx="65502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ReceiptInbox—Serverless-Receipt-Parser-Smart-Alerts Server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6" title="AWS Receipt Processing-2025-12-11-2058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2313225"/>
            <a:ext cx="8839199" cy="356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OUTSIDE DATA API – AWS TEXTRACT API</a:t>
            </a:r>
            <a:endParaRPr/>
          </a:p>
        </p:txBody>
      </p:sp>
      <p:sp>
        <p:nvSpPr>
          <p:cNvPr id="184" name="Google Shape;184;p17"/>
          <p:cNvSpPr txBox="1"/>
          <p:nvPr>
            <p:ph idx="1" type="body"/>
          </p:nvPr>
        </p:nvSpPr>
        <p:spPr>
          <a:xfrm>
            <a:off x="457200" y="1500199"/>
            <a:ext cx="8229601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51468" lvl="0" marL="14036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Source Name:</a:t>
            </a:r>
            <a:endParaRPr b="1"/>
          </a:p>
          <a:p>
            <a:pPr indent="-3810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AWS AI Services</a:t>
            </a:r>
            <a:r>
              <a:rPr lang="en-US"/>
              <a:t> (Amazon </a:t>
            </a:r>
            <a:r>
              <a:rPr lang="en-US">
                <a:solidFill>
                  <a:srgbClr val="1D1C1D"/>
                </a:solidFill>
                <a:highlight>
                  <a:srgbClr val="FFFFFF"/>
                </a:highlight>
              </a:rPr>
              <a:t>Rekognition</a:t>
            </a:r>
            <a:r>
              <a:rPr lang="en-US"/>
              <a:t> &amp; Amazon Bedrock)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/>
              <a:t>What is the source:</a:t>
            </a:r>
            <a:endParaRPr b="1"/>
          </a:p>
          <a:p>
            <a:pPr indent="-3746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/>
              <a:t>Amazon Rekognition:</a:t>
            </a:r>
            <a:r>
              <a:rPr lang="en-US" sz="2300"/>
              <a:t> Uses deep learning to detect and extract text from receipt images.</a:t>
            </a:r>
            <a:endParaRPr sz="23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/>
              <a:t>Bedrock:</a:t>
            </a:r>
            <a:r>
              <a:rPr lang="en-US"/>
              <a:t> Generative AI service (LLM) used to interpret the text, categorize spending.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fba434a27_0_4"/>
          <p:cNvSpPr txBox="1"/>
          <p:nvPr>
            <p:ph type="title"/>
          </p:nvPr>
        </p:nvSpPr>
        <p:spPr>
          <a:xfrm>
            <a:off x="419100" y="909559"/>
            <a:ext cx="82296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OUTSIDE DATA API – AWS TEXTRACT API</a:t>
            </a:r>
            <a:endParaRPr/>
          </a:p>
        </p:txBody>
      </p:sp>
      <p:sp>
        <p:nvSpPr>
          <p:cNvPr id="190" name="Google Shape;190;g3afba434a27_0_4"/>
          <p:cNvSpPr txBox="1"/>
          <p:nvPr>
            <p:ph idx="1" type="body"/>
          </p:nvPr>
        </p:nvSpPr>
        <p:spPr>
          <a:xfrm>
            <a:off x="457200" y="1500199"/>
            <a:ext cx="822960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51468" lvl="0" marL="14036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How to access and ingest the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191" name="Google Shape;191;g3afba434a27_0_4" title="Decision Path Selection Flow-2025-12-11-2045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50" y="2471275"/>
            <a:ext cx="8819702" cy="33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PERFORMANCE AND SCALABILITY</a:t>
            </a:r>
            <a:endParaRPr/>
          </a:p>
        </p:txBody>
      </p:sp>
      <p:sp>
        <p:nvSpPr>
          <p:cNvPr id="197" name="Google Shape;197;p18"/>
          <p:cNvSpPr txBox="1"/>
          <p:nvPr>
            <p:ph idx="1" type="body"/>
          </p:nvPr>
        </p:nvSpPr>
        <p:spPr>
          <a:xfrm>
            <a:off x="495300" y="1485900"/>
            <a:ext cx="81534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Serverless Scaling:</a:t>
            </a:r>
            <a:r>
              <a:rPr lang="en-US"/>
              <a:t>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/>
              <a:t>AWS Lambda auto-scales from 0 to 1,000+ users without config.</a:t>
            </a:r>
            <a:endParaRPr sz="2300"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Async Decoupling:</a:t>
            </a:r>
            <a:r>
              <a:rPr lang="en-US"/>
              <a:t>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/>
              <a:t>SQS offloads heavy ML tasks; prevents API timeouts.</a:t>
            </a:r>
            <a:endParaRPr sz="2300"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Optimized Bandwidth:</a:t>
            </a:r>
            <a:r>
              <a:rPr lang="en-US"/>
              <a:t>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/>
              <a:t>S3 Presigned URLs bypass backend for direct file download.</a:t>
            </a:r>
            <a:endParaRPr sz="2300"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High-Speed Data:</a:t>
            </a:r>
            <a:r>
              <a:rPr lang="en-US"/>
              <a:t>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/>
              <a:t>DynamoDB provides consistent, single-digit ms latency at scale.</a:t>
            </a:r>
            <a:endParaRPr sz="2300"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b="1" lang="en-US"/>
              <a:t>Observed Latency:</a:t>
            </a:r>
            <a:endParaRPr b="1"/>
          </a:p>
          <a:p>
            <a:pPr indent="-31369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40"/>
              <a:buChar char="o"/>
            </a:pPr>
            <a:r>
              <a:rPr b="1" lang="en-US" sz="2300"/>
              <a:t>Warm:</a:t>
            </a:r>
            <a:r>
              <a:rPr lang="en-US" sz="2300"/>
              <a:t> &lt; 500ms (Average response).</a:t>
            </a:r>
            <a:endParaRPr sz="2300"/>
          </a:p>
          <a:p>
            <a:pPr indent="-31369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40"/>
              <a:buChar char="o"/>
            </a:pPr>
            <a:r>
              <a:rPr b="1" lang="en-US" sz="2300"/>
              <a:t>Cold Start:</a:t>
            </a:r>
            <a:r>
              <a:rPr lang="en-US" sz="2300"/>
              <a:t> ~2-3s (Runtime initialization).</a:t>
            </a:r>
            <a:endParaRPr b="1" sz="2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DEVOPS / SYSTEM OPERATIONS</a:t>
            </a:r>
            <a:endParaRPr/>
          </a:p>
        </p:txBody>
      </p:sp>
      <p:pic>
        <p:nvPicPr>
          <p:cNvPr id="203" name="Google Shape;203;p19" title="AWS Receipt Processing-2025-12-11-1911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46750"/>
            <a:ext cx="8839204" cy="227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457200" y="2633533"/>
            <a:ext cx="8229600" cy="112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</a:pPr>
            <a:r>
              <a:rPr lang="en-US"/>
              <a:t>MACHINE LEARNING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ML OVERVIEW</a:t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AWS Rekognition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OCR: Extract text from uploaded receipt image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AWS Bedrock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AI Categorization: classify spendings into 15 categories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ML INTEGRATION</a:t>
            </a:r>
            <a:endParaRPr/>
          </a:p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419100" y="1485900"/>
            <a:ext cx="8229600" cy="702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 flow: </a:t>
            </a:r>
            <a:endParaRPr/>
          </a:p>
        </p:txBody>
      </p:sp>
      <p:pic>
        <p:nvPicPr>
          <p:cNvPr descr="A diagram of a computer process&#10;&#10;AI-generated content may be incorrect.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3710" y="1980651"/>
            <a:ext cx="9615219" cy="289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ML PERFORMANCE</a:t>
            </a:r>
            <a:endParaRPr/>
          </a:p>
        </p:txBody>
      </p:sp>
      <p:sp>
        <p:nvSpPr>
          <p:cNvPr id="227" name="Google Shape;227;p23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OCR Accuracy: 70-85%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Categorization Accuracy: 90%+ (with Bedrock)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Processing Time: 15-20 seconds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Cost per Receipt: ~$0.001 (Rekognition + Bedrock + Lambda)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>
            <p:ph type="title"/>
          </p:nvPr>
        </p:nvSpPr>
        <p:spPr>
          <a:xfrm>
            <a:off x="457200" y="2633533"/>
            <a:ext cx="8229600" cy="112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</a:pPr>
            <a:r>
              <a:rPr lang="en-US"/>
              <a:t>API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API SUMMARY</a:t>
            </a:r>
            <a:endParaRPr/>
          </a:p>
        </p:txBody>
      </p:sp>
      <p:sp>
        <p:nvSpPr>
          <p:cNvPr id="238" name="Google Shape;238;p25"/>
          <p:cNvSpPr txBox="1"/>
          <p:nvPr>
            <p:ph idx="1" type="body"/>
          </p:nvPr>
        </p:nvSpPr>
        <p:spPr>
          <a:xfrm>
            <a:off x="419100" y="1565421"/>
            <a:ext cx="8229601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Type &amp; Protocol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HTTP API with CORS support.</a:t>
            </a:r>
            <a:endParaRPr sz="23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Framework</a:t>
            </a:r>
            <a:endParaRPr b="1"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FastAPI: for auto-validation (Pydantic).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Mangum Adapter: for native execution on AWS Lambda.</a:t>
            </a:r>
            <a:endParaRPr sz="23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Architecture Role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Stateless orchestrator connecting React Frontend to AWS services.</a:t>
            </a:r>
            <a:endParaRPr sz="23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Key Design Pattern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Asynchronous Handoff: Offloads heavy ML tasks to SQS to ensure low latency and prevent timeouts.</a:t>
            </a:r>
            <a:endParaRPr b="1" sz="2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API SECURITY AND ACCESS</a:t>
            </a:r>
            <a:endParaRPr/>
          </a:p>
        </p:txBody>
      </p:sp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419100" y="1500199"/>
            <a:ext cx="8229601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Authentication Mechanism: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n-US" sz="2300"/>
              <a:t>JWT (HS256)</a:t>
            </a:r>
            <a:r>
              <a:rPr lang="en-US" sz="2300"/>
              <a:t> carried in the Authorization: Bearer header.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Tokens expire after 30 minutes.</a:t>
            </a:r>
            <a:endParaRPr sz="23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Credential Storage: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Passwords are hashed by </a:t>
            </a:r>
            <a:r>
              <a:rPr b="1" lang="en-US" sz="2300"/>
              <a:t>SHA256</a:t>
            </a:r>
            <a:r>
              <a:rPr lang="en-US" sz="2300"/>
              <a:t>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Credentials stored in </a:t>
            </a:r>
            <a:r>
              <a:rPr b="1" lang="en-US" sz="2300"/>
              <a:t>DynamoDB (Users Table)</a:t>
            </a:r>
            <a:r>
              <a:rPr lang="en-US" sz="2300"/>
              <a:t>.</a:t>
            </a:r>
            <a:endParaRPr sz="23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US"/>
              <a:t>Server-Side Verification: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Protected routes validate the JWT signature on every request.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Verified against the DynamoDB user partition key (username).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419100" y="909559"/>
            <a:ext cx="8229600" cy="550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990000"/>
                </a:solidFill>
              </a:rPr>
              <a:t>API ENDPOINTS</a:t>
            </a:r>
            <a:endParaRPr/>
          </a:p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/>
              <a:t>POST /signup &amp; /login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/>
              <a:t>Input:</a:t>
            </a:r>
            <a:r>
              <a:rPr lang="en-US" sz="2300"/>
              <a:t> { email, password }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/>
              <a:t>Logic:</a:t>
            </a:r>
            <a:r>
              <a:rPr lang="en-US" sz="2300"/>
              <a:t> Hashes password (</a:t>
            </a:r>
            <a:r>
              <a:rPr b="1" lang="en-US" sz="2300"/>
              <a:t>SHA256</a:t>
            </a:r>
            <a:r>
              <a:rPr lang="en-US" sz="2300"/>
              <a:t>)  → Interacts with </a:t>
            </a:r>
            <a:r>
              <a:rPr b="1" lang="en-US" sz="2300"/>
              <a:t>DynamoDB</a:t>
            </a:r>
            <a:r>
              <a:rPr lang="en-US" sz="2300"/>
              <a:t> →  Returns JWT Token</a:t>
            </a:r>
            <a:endParaRPr sz="23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/>
              <a:t>POST / (Receipt Upload)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/>
              <a:t>Function:</a:t>
            </a:r>
            <a:r>
              <a:rPr lang="en-US" sz="2300"/>
              <a:t> Ingest &amp; Dispatch.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/>
              <a:t>Logic: </a:t>
            </a:r>
            <a:r>
              <a:rPr lang="en-US" sz="2300"/>
              <a:t>Saves image(S3)</a:t>
            </a:r>
            <a:r>
              <a:rPr b="1" lang="en-US" sz="2300"/>
              <a:t>→</a:t>
            </a:r>
            <a:r>
              <a:rPr lang="en-US" sz="2300"/>
              <a:t>Creates </a:t>
            </a:r>
            <a:r>
              <a:rPr b="1" lang="en-US" sz="2300"/>
              <a:t>DynamoDB</a:t>
            </a:r>
            <a:r>
              <a:rPr lang="en-US" sz="2300"/>
              <a:t> entry→Publishes job message to </a:t>
            </a:r>
            <a:r>
              <a:rPr b="1" lang="en-US" sz="2300"/>
              <a:t>Amazon SQS</a:t>
            </a:r>
            <a:r>
              <a:rPr lang="en-US" sz="2300"/>
              <a:t> ← receipt_id.</a:t>
            </a:r>
            <a:endParaRPr sz="23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1" lang="en-US"/>
              <a:t>GET /receipts/{id}/image</a:t>
            </a:r>
            <a:endParaRPr b="1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/>
              <a:t>Function:</a:t>
            </a:r>
            <a:r>
              <a:rPr lang="en-US" sz="2300"/>
              <a:t> Secure Viewing.</a:t>
            </a:r>
            <a:endParaRPr sz="2300"/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b="1" lang="en-US" sz="2300"/>
              <a:t>Logic:</a:t>
            </a:r>
            <a:r>
              <a:rPr lang="en-US" sz="2300"/>
              <a:t> Generates a short-lived </a:t>
            </a:r>
            <a:r>
              <a:rPr b="1" lang="en-US" sz="2300"/>
              <a:t>S3 Presigned URL</a:t>
            </a:r>
            <a:r>
              <a:rPr lang="en-US" sz="2300"/>
              <a:t> to securely display the receipt image.</a:t>
            </a:r>
            <a:endParaRPr b="1" sz="23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457200" y="2633533"/>
            <a:ext cx="8229600" cy="112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</a:pPr>
            <a:r>
              <a:rPr lang="en-US"/>
              <a:t>IN CONCLUSION…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/>
          <p:nvPr>
            <p:ph type="title"/>
          </p:nvPr>
        </p:nvSpPr>
        <p:spPr>
          <a:xfrm>
            <a:off x="419100" y="909560"/>
            <a:ext cx="8229600" cy="55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Helvetica Neue"/>
              <a:buNone/>
            </a:pPr>
            <a:r>
              <a:rPr lang="en-US"/>
              <a:t>OUTCOMES AND RESULTS</a:t>
            </a:r>
            <a:endParaRPr/>
          </a:p>
        </p:txBody>
      </p:sp>
      <p:sp>
        <p:nvSpPr>
          <p:cNvPr id="261" name="Google Shape;261;p29"/>
          <p:cNvSpPr txBox="1"/>
          <p:nvPr>
            <p:ph idx="1" type="body"/>
          </p:nvPr>
        </p:nvSpPr>
        <p:spPr>
          <a:xfrm>
            <a:off x="419100" y="1485900"/>
            <a:ext cx="8229600" cy="5067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whole system has been successfully deployed and functions as expected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Token-based authentication flaws</a:t>
            </a:r>
            <a:endParaRPr/>
          </a:p>
          <a:p>
            <a:pPr indent="-228600" lvl="1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Char char="o"/>
            </a:pPr>
            <a:r>
              <a:rPr lang="en-US"/>
              <a:t>Token can be created or modified locally (browser localStorage)</a:t>
            </a:r>
            <a:endParaRPr/>
          </a:p>
          <a:p>
            <a:pPr indent="0" lvl="0" marL="54864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OCR accuracy: 70-85% (image quality dependent)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FFCC00"/>
      </a:dk2>
      <a:lt2>
        <a:srgbClr val="990000"/>
      </a:lt2>
      <a:accent1>
        <a:srgbClr val="000000"/>
      </a:accent1>
      <a:accent2>
        <a:srgbClr val="404040"/>
      </a:accent2>
      <a:accent3>
        <a:srgbClr val="808080"/>
      </a:accent3>
      <a:accent4>
        <a:srgbClr val="BFBFBF"/>
      </a:accent4>
      <a:accent5>
        <a:srgbClr val="CECECE"/>
      </a:accent5>
      <a:accent6>
        <a:srgbClr val="FFFFFF"/>
      </a:accent6>
      <a:hlink>
        <a:srgbClr val="990000"/>
      </a:hlink>
      <a:folHlink>
        <a:srgbClr val="99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2022-12-10T22:04:16Z</dcterms:created>
</cp:coreProperties>
</file>